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145707593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67" autoAdjust="0"/>
    <p:restoredTop sz="94694" autoAdjust="0"/>
  </p:normalViewPr>
  <p:slideViewPr>
    <p:cSldViewPr snapToGrid="0" snapToObjects="1">
      <p:cViewPr varScale="1">
        <p:scale>
          <a:sx n="123" d="100"/>
          <a:sy n="123" d="100"/>
        </p:scale>
        <p:origin x="208" y="71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A69256-E8D4-7D40-86BE-EB67E9241F49}" type="datetimeFigureOut">
              <a:rPr lang="en-US" smtClean="0"/>
              <a:t>7/15/26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C61184-44F4-DB4C-90A1-5D1A8C922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015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48BA43-8161-C945-AF15-1179F49C6457}" type="slidenum">
              <a:rPr lang="en-BW" smtClean="0"/>
              <a:t>1</a:t>
            </a:fld>
            <a:endParaRPr lang="en-BW"/>
          </a:p>
        </p:txBody>
      </p:sp>
    </p:spTree>
    <p:extLst>
      <p:ext uri="{BB962C8B-B14F-4D97-AF65-F5344CB8AC3E}">
        <p14:creationId xmlns:p14="http://schemas.microsoft.com/office/powerpoint/2010/main" val="18432916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61184-44F4-DB4C-90A1-5D1A8C922F6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729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44EAE599-082C-91F5-E3B0-6E84F6339E37}"/>
              </a:ext>
            </a:extLst>
          </p:cNvPr>
          <p:cNvSpPr txBox="1"/>
          <p:nvPr/>
        </p:nvSpPr>
        <p:spPr>
          <a:xfrm>
            <a:off x="4479634" y="876329"/>
            <a:ext cx="184731" cy="600164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txBody>
          <a:bodyPr wrap="none" rtlCol="0">
            <a:spAutoFit/>
          </a:bodyPr>
          <a:lstStyle/>
          <a:p>
            <a:pPr algn="ctr"/>
            <a:endParaRPr lang="en-BW" sz="3300" b="1" dirty="0">
              <a:solidFill>
                <a:srgbClr val="9C0605"/>
              </a:solidFill>
              <a:latin typeface="Avenir Next" panose="020B0503020202020204" pitchFamily="34" charset="0"/>
              <a:cs typeface="Aharoni" panose="02010803020104030203" pitchFamily="2" charset="-79"/>
            </a:endParaRPr>
          </a:p>
        </p:txBody>
      </p:sp>
      <p:pic>
        <p:nvPicPr>
          <p:cNvPr id="24" name="Picture 2" descr="Medical Wallpapers - Top Free Medical Backgrounds - WallpaperAccess">
            <a:extLst>
              <a:ext uri="{FF2B5EF4-FFF2-40B4-BE49-F238E27FC236}">
                <a16:creationId xmlns:a16="http://schemas.microsoft.com/office/drawing/2014/main" id="{E25E1C19-D4BD-0DA4-AE7E-08560A6F8F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37" b="11763"/>
          <a:stretch/>
        </p:blipFill>
        <p:spPr bwMode="auto">
          <a:xfrm>
            <a:off x="55497" y="43611"/>
            <a:ext cx="8994985" cy="3892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95C18522-3FB8-7690-D907-54BC59135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5425" y="1802810"/>
            <a:ext cx="2987335" cy="327729"/>
          </a:xfrm>
          <a:noFill/>
        </p:spPr>
        <p:txBody>
          <a:bodyPr vert="horz" lIns="68580" tIns="34290" rIns="68580" bIns="34290" rtlCol="0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500" b="1" dirty="0">
                <a:latin typeface="Avenir Next" panose="020B0503020202020204" pitchFamily="34" charset="0"/>
                <a:cs typeface="Arial Narrow" panose="020B0604020202020204" pitchFamily="34" charset="0"/>
              </a:rPr>
              <a:t>W. T. Choga </a:t>
            </a:r>
            <a:r>
              <a:rPr lang="en-US" sz="675" dirty="0">
                <a:latin typeface="Avenir Next" panose="020B0503020202020204" pitchFamily="34" charset="0"/>
                <a:cs typeface="Arial Narrow" panose="020B0604020202020204" pitchFamily="34" charset="0"/>
              </a:rPr>
              <a:t>Ph.D. (UB), MSc(Med) UCT, Hons (NUST)</a:t>
            </a:r>
          </a:p>
          <a:p>
            <a:pPr marL="0" indent="0" algn="ctr">
              <a:lnSpc>
                <a:spcPct val="160000"/>
              </a:lnSpc>
              <a:spcBef>
                <a:spcPts val="0"/>
              </a:spcBef>
              <a:buNone/>
            </a:pPr>
            <a:endParaRPr lang="en-US" sz="1500" dirty="0">
              <a:latin typeface="Avenir Next" panose="020B0503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A38B07-32A6-CE0F-355D-417D4811FFAF}"/>
              </a:ext>
            </a:extLst>
          </p:cNvPr>
          <p:cNvSpPr txBox="1"/>
          <p:nvPr/>
        </p:nvSpPr>
        <p:spPr>
          <a:xfrm>
            <a:off x="149015" y="4226787"/>
            <a:ext cx="8994985" cy="6001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04787">
              <a:lnSpc>
                <a:spcPct val="150000"/>
              </a:lnSpc>
            </a:pPr>
            <a:r>
              <a:rPr lang="en-ZA" sz="2400" b="1" dirty="0"/>
              <a:t>Welcome to the workshop</a:t>
            </a:r>
            <a:endParaRPr lang="en-BW" sz="2250" b="1" dirty="0">
              <a:latin typeface="Avenir Next" panose="020B05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6A8A59-0363-4B9F-4F4A-DE5058DD2349}"/>
              </a:ext>
            </a:extLst>
          </p:cNvPr>
          <p:cNvSpPr txBox="1"/>
          <p:nvPr/>
        </p:nvSpPr>
        <p:spPr>
          <a:xfrm>
            <a:off x="8600740" y="3767866"/>
            <a:ext cx="1847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3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81EF97-A312-ADE8-F4EF-1A07C9465747}"/>
              </a:ext>
            </a:extLst>
          </p:cNvPr>
          <p:cNvSpPr txBox="1"/>
          <p:nvPr/>
        </p:nvSpPr>
        <p:spPr>
          <a:xfrm>
            <a:off x="8116645" y="3913094"/>
            <a:ext cx="1847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350" dirty="0"/>
          </a:p>
        </p:txBody>
      </p:sp>
      <p:pic>
        <p:nvPicPr>
          <p:cNvPr id="4" name="Picture 3" descr="In Botswana logo design">
            <a:extLst>
              <a:ext uri="{FF2B5EF4-FFF2-40B4-BE49-F238E27FC236}">
                <a16:creationId xmlns:a16="http://schemas.microsoft.com/office/drawing/2014/main" id="{1797EA96-9F27-13D7-D258-5C81688DF1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817" y="4164492"/>
            <a:ext cx="1403096" cy="9353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EAF354-9302-E7FD-6FD5-377C01B3619B}"/>
              </a:ext>
            </a:extLst>
          </p:cNvPr>
          <p:cNvSpPr txBox="1"/>
          <p:nvPr/>
        </p:nvSpPr>
        <p:spPr>
          <a:xfrm>
            <a:off x="5288567" y="4172926"/>
            <a:ext cx="382965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buNone/>
            </a:pPr>
            <a:r>
              <a:rPr lang="en-ZA" sz="2000" b="1" dirty="0">
                <a:solidFill>
                  <a:srgbClr val="C00000"/>
                </a:solidFill>
              </a:rPr>
              <a:t>Bioinformatics, AI,</a:t>
            </a:r>
          </a:p>
          <a:p>
            <a:pPr marL="0" lvl="0" indent="0" algn="ctr">
              <a:buNone/>
            </a:pPr>
            <a:r>
              <a:rPr lang="en-ZA" sz="2000" b="1" dirty="0">
                <a:solidFill>
                  <a:srgbClr val="C00000"/>
                </a:solidFill>
              </a:rPr>
              <a:t>Data Science (16-17, July, 2026)</a:t>
            </a:r>
          </a:p>
        </p:txBody>
      </p:sp>
    </p:spTree>
    <p:extLst>
      <p:ext uri="{BB962C8B-B14F-4D97-AF65-F5344CB8AC3E}">
        <p14:creationId xmlns:p14="http://schemas.microsoft.com/office/powerpoint/2010/main" val="2662425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l">
              <a:buNone/>
            </a:pP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Goals for this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5409" y="1200151"/>
            <a:ext cx="6598228" cy="3394472"/>
          </a:xfrm>
        </p:spPr>
        <p:txBody>
          <a:bodyPr/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Get to know your instructors and neighbors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Set expectations for the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day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Install softwares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Join Our AI groups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Get excited!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1AF6CC-A7EE-79C1-17B0-5E051B473E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097" y="2144192"/>
            <a:ext cx="1719512" cy="23483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277"/>
            <a:ext cx="8229600" cy="857250"/>
          </a:xfrm>
        </p:spPr>
        <p:txBody>
          <a:bodyPr/>
          <a:lstStyle/>
          <a:p>
            <a:pPr marL="0" lvl="0" indent="0" algn="l">
              <a:buNone/>
            </a:pPr>
            <a:r>
              <a:rPr b="1" dirty="0"/>
              <a:t>Workshop materials are at: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87533"/>
            <a:ext cx="8229600" cy="424542"/>
          </a:xfrm>
        </p:spPr>
        <p:txBody>
          <a:bodyPr>
            <a:normAutofit lnSpcReduction="10000"/>
          </a:bodyPr>
          <a:lstStyle/>
          <a:p>
            <a:r>
              <a:rPr lang="en-ZA" dirty="0"/>
              <a:t>https://</a:t>
            </a:r>
            <a:r>
              <a:rPr lang="en-ZA" dirty="0" err="1"/>
              <a:t>github.com</a:t>
            </a:r>
            <a:r>
              <a:rPr lang="en-ZA" dirty="0"/>
              <a:t>/</a:t>
            </a:r>
            <a:r>
              <a:rPr lang="en-ZA" dirty="0" err="1"/>
              <a:t>wtchoga</a:t>
            </a:r>
            <a:r>
              <a:rPr lang="en-ZA" dirty="0"/>
              <a:t>/bioinformatics-series-Botswana/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80554"/>
            <a:ext cx="8229600" cy="857250"/>
          </a:xfrm>
        </p:spPr>
        <p:txBody>
          <a:bodyPr/>
          <a:lstStyle/>
          <a:p>
            <a:pPr marL="0" lvl="0" indent="0" algn="l">
              <a:buNone/>
            </a:pPr>
            <a:r>
              <a:rPr b="1" dirty="0"/>
              <a:t>Discussions: discord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30731"/>
            <a:ext cx="8229600" cy="1126670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Ask questions at #workshop-questions on</a:t>
            </a:r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 https://</a:t>
            </a:r>
            <a:r>
              <a:rPr lang="en-ZA" dirty="0" err="1">
                <a:latin typeface="Arial" panose="020B0604020202020204" pitchFamily="34" charset="0"/>
                <a:cs typeface="Arial" panose="020B0604020202020204" pitchFamily="34" charset="0"/>
              </a:rPr>
              <a:t>discord.com</a:t>
            </a:r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/channels/1527062497729974342/1527062564121346278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C457D9-93A0-D899-C0FA-8F79357D1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8178" y="2571750"/>
            <a:ext cx="1792938" cy="17929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EA3EFC-A206-EF5D-E78A-06216183B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888" y="2211436"/>
            <a:ext cx="4220935" cy="23178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BA3066-9628-A503-D717-C29B95B2C0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666" y="2023671"/>
            <a:ext cx="1714134" cy="23410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 algn="l">
              <a:buNone/>
            </a:pPr>
            <a:r>
              <a:rPr lang="en-US" sz="4000" b="1" dirty="0"/>
              <a:t>I’m Stuck &amp; Frustrated</a:t>
            </a:r>
            <a:endParaRPr sz="4000" b="1" dirty="0"/>
          </a:p>
        </p:txBody>
      </p:sp>
      <p:pic>
        <p:nvPicPr>
          <p:cNvPr id="5" name="Picture 4" descr="Focus : r/ProgrammerHumor">
            <a:extLst>
              <a:ext uri="{FF2B5EF4-FFF2-40B4-BE49-F238E27FC236}">
                <a16:creationId xmlns:a16="http://schemas.microsoft.com/office/drawing/2014/main" id="{95DE8F22-D897-4EBE-368C-2AC634C5D5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139" r="1237"/>
          <a:stretch>
            <a:fillRect/>
          </a:stretch>
        </p:blipFill>
        <p:spPr>
          <a:xfrm>
            <a:off x="859698" y="1143000"/>
            <a:ext cx="2548521" cy="3794521"/>
          </a:xfrm>
          <a:prstGeom prst="rect">
            <a:avLst/>
          </a:prstGeom>
        </p:spPr>
      </p:pic>
      <p:pic>
        <p:nvPicPr>
          <p:cNvPr id="9" name="Picture 8" descr="Do's &amp; Dont's - Willard South Computer Lab">
            <a:extLst>
              <a:ext uri="{FF2B5EF4-FFF2-40B4-BE49-F238E27FC236}">
                <a16:creationId xmlns:a16="http://schemas.microsoft.com/office/drawing/2014/main" id="{EE101F98-24CC-C2A9-E75A-11ADA896B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1124" y="1079896"/>
            <a:ext cx="2888405" cy="3857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l">
              <a:buNone/>
            </a:pP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Practicalities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754" y="1200151"/>
            <a:ext cx="7949045" cy="3394472"/>
          </a:xfrm>
        </p:spPr>
        <p:txBody>
          <a:bodyPr/>
          <a:lstStyle/>
          <a:p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WiFi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: Network: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Z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Password: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l">
              <a:buNone/>
            </a:pP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Introductions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200150"/>
            <a:ext cx="8390659" cy="3299113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Take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10 secs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to introduce yourself.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Please share … - Your name 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here you work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Your current go-to method for analyzing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l">
              <a:buNone/>
            </a:pPr>
            <a:r>
              <a:rPr b="1" dirty="0"/>
              <a:t>Let’s make this workshop work for 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b="1" dirty="0"/>
              <a:t>You belong here. </a:t>
            </a:r>
            <a:r>
              <a:rPr dirty="0"/>
              <a:t>This workshop is intended for a wide-audience with a focus on beginners. If you feel out of place - it’s our problem, not yours!</a:t>
            </a:r>
            <a:endParaRPr lang="en-US" dirty="0"/>
          </a:p>
          <a:p>
            <a:pPr lvl="0"/>
            <a:endParaRPr dirty="0"/>
          </a:p>
          <a:p>
            <a:pPr lvl="0"/>
            <a:r>
              <a:rPr b="1" dirty="0"/>
              <a:t>Stay committed. </a:t>
            </a:r>
            <a:r>
              <a:rPr dirty="0"/>
              <a:t>This week-long workshop is intended to build each day and leave you with skills you can really use. Commit to stay engaged for best results, for you and your group!</a:t>
            </a:r>
            <a:endParaRPr lang="en-US" dirty="0"/>
          </a:p>
          <a:p>
            <a:pPr marL="0" lvl="0" indent="0">
              <a:buNone/>
            </a:pPr>
            <a:endParaRPr dirty="0"/>
          </a:p>
          <a:p>
            <a:pPr lvl="0"/>
            <a:r>
              <a:rPr b="1" dirty="0"/>
              <a:t>This is a challenging but friendly environment. </a:t>
            </a:r>
            <a:r>
              <a:rPr dirty="0"/>
              <a:t>We are here to learn and grow.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l">
              <a:buNone/>
            </a:pPr>
            <a:r>
              <a:rPr dirty="0"/>
              <a:t>Let’s take a poll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7C831B-4089-8A6C-0ADB-D8A689F6F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22304"/>
            <a:ext cx="3550000" cy="33912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962E5F9-A7EC-68ED-841B-ACE0FADFC3CB}"/>
              </a:ext>
            </a:extLst>
          </p:cNvPr>
          <p:cNvSpPr txBox="1"/>
          <p:nvPr/>
        </p:nvSpPr>
        <p:spPr>
          <a:xfrm>
            <a:off x="4249882" y="254860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www.menti.com</a:t>
            </a:r>
            <a:r>
              <a:rPr lang="en-US" dirty="0"/>
              <a:t>/al8fjkaovx38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65751"/>
            <a:ext cx="8229600" cy="857250"/>
          </a:xfrm>
        </p:spPr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4400" b="1" dirty="0"/>
              <a:t>Pre-workshop survey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BE9F26-8CD6-7E70-65FA-86E36483B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854" y="1572914"/>
            <a:ext cx="2694709" cy="257421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l">
              <a:buNone/>
            </a:pPr>
            <a:r>
              <a:rPr b="1" dirty="0"/>
              <a:t>The content of this workshop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We’ve created </a:t>
            </a:r>
            <a:r>
              <a:rPr b="1" dirty="0"/>
              <a:t>6 modules </a:t>
            </a:r>
            <a:r>
              <a:rPr dirty="0"/>
              <a:t>as well as an interactive activity for this workshop. </a:t>
            </a:r>
            <a:endParaRPr lang="en-US" dirty="0"/>
          </a:p>
          <a:p>
            <a:endParaRPr lang="en-US" dirty="0"/>
          </a:p>
          <a:p>
            <a:r>
              <a:rPr dirty="0"/>
              <a:t>There might be too much material to get through </a:t>
            </a:r>
            <a:r>
              <a:rPr lang="en-US" dirty="0"/>
              <a:t>in a day</a:t>
            </a:r>
            <a:r>
              <a:rPr dirty="0"/>
              <a:t>! </a:t>
            </a:r>
            <a:endParaRPr lang="en-US" dirty="0"/>
          </a:p>
          <a:p>
            <a:endParaRPr lang="en-ZA" dirty="0"/>
          </a:p>
          <a:p>
            <a:r>
              <a:rPr dirty="0"/>
              <a:t>As instructors we’re going to be trying to teach at the right pace to keep everyone learning </a:t>
            </a:r>
            <a:r>
              <a:rPr lang="en-US" dirty="0"/>
              <a:t>in a day</a:t>
            </a:r>
            <a:r>
              <a:rPr dirty="0"/>
              <a:t>. </a:t>
            </a:r>
            <a:endParaRPr lang="en-US" dirty="0"/>
          </a:p>
          <a:p>
            <a:endParaRPr lang="en-US" dirty="0"/>
          </a:p>
          <a:p>
            <a:r>
              <a:rPr dirty="0"/>
              <a:t>The materials will stay on the website forever for you to work through at your own pace.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313</Words>
  <Application>Microsoft Macintosh PowerPoint</Application>
  <PresentationFormat>On-screen Show (16:9)</PresentationFormat>
  <Paragraphs>42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Avenir Next</vt:lpstr>
      <vt:lpstr>Calibri</vt:lpstr>
      <vt:lpstr>Office Theme</vt:lpstr>
      <vt:lpstr>PowerPoint Presentation</vt:lpstr>
      <vt:lpstr>Goals for this session</vt:lpstr>
      <vt:lpstr>Workshop materials are at:</vt:lpstr>
      <vt:lpstr>Discussions: discord</vt:lpstr>
      <vt:lpstr>I’m Stuck &amp; Frustrated</vt:lpstr>
      <vt:lpstr>Practicalities</vt:lpstr>
      <vt:lpstr>Introductions</vt:lpstr>
      <vt:lpstr>Let’s make this workshop work for all</vt:lpstr>
      <vt:lpstr>Let’s take a poll</vt:lpstr>
      <vt:lpstr>Pre-workshop survey</vt:lpstr>
      <vt:lpstr>The content of this workshop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the workshop</dc:title>
  <dc:creator>Data Science for Biology</dc:creator>
  <cp:keywords/>
  <cp:lastModifiedBy>Choga W.T</cp:lastModifiedBy>
  <cp:revision>8</cp:revision>
  <dcterms:created xsi:type="dcterms:W3CDTF">2026-07-15T21:13:20Z</dcterms:created>
  <dcterms:modified xsi:type="dcterms:W3CDTF">2026-07-16T03:38:15Z</dcterms:modified>
</cp:coreProperties>
</file>